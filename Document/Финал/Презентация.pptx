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68" r:id="rId16"/>
    <p:sldId id="270" r:id="rId17"/>
    <p:sldId id="271" r:id="rId18"/>
    <p:sldId id="272" r:id="rId19"/>
    <p:sldId id="273" r:id="rId20"/>
    <p:sldId id="274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80"/>
        <p:guide pos="38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jpeg"/><Relationship Id="rId8" Type="http://schemas.openxmlformats.org/officeDocument/2006/relationships/image" Target="../media/image13.png"/><Relationship Id="rId7" Type="http://schemas.openxmlformats.org/officeDocument/2006/relationships/image" Target="../media/image12.jpe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6;p8"/>
          <p:cNvSpPr txBox="1"/>
          <p:nvPr/>
        </p:nvSpPr>
        <p:spPr>
          <a:xfrm>
            <a:off x="7229475" y="5075555"/>
            <a:ext cx="489077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Выпускник группы 2</a:t>
            </a:r>
            <a:r>
              <a:rPr lang="en-US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-2: Каспранов К.И.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руководитель: Калимулин Р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754880" y="0"/>
            <a:ext cx="9144000" cy="1421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tabLst>
                <a:tab pos="3771900" algn="l"/>
              </a:tabLst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charset="0"/>
              </a:rPr>
              <a:t>Министерство образования и науки Республики Башкортостан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tabLst>
                <a:tab pos="3771900" algn="l"/>
              </a:tabLst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charset="0"/>
              </a:rPr>
              <a:t>Государственное автономное профессиональное образовательное учреждение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tabLst>
                <a:tab pos="3771900" algn="l"/>
              </a:tabLst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charset="0"/>
              </a:rPr>
              <a:t>Уфимский колледж статистики, информатики и вычислительной техники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480973" y="2649006"/>
            <a:ext cx="9230054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</a:t>
            </a:r>
            <a:r>
              <a:rPr lang="en-US" altLang="ru-RU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веб</a:t>
            </a:r>
            <a:r>
              <a:rPr lang="en-US" altLang="ru-RU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altLang="en-US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платформы</a:t>
            </a:r>
            <a:r>
              <a:rPr lang="en-US" altLang="ru-RU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altLang="ru-RU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en-US" altLang="ru-RU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электронными</a:t>
            </a:r>
            <a:r>
              <a:rPr lang="en-US" altLang="ru-RU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cap="all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книгами</a:t>
            </a:r>
            <a:endParaRPr lang="en-US" altLang="en-US" sz="2400" cap="all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Подзаголовок 6"/>
          <p:cNvSpPr txBox="1"/>
          <p:nvPr/>
        </p:nvSpPr>
        <p:spPr>
          <a:xfrm>
            <a:off x="4851353" y="6216598"/>
            <a:ext cx="2489294" cy="514402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/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Wingdings 2"/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1"/>
          <p:cNvSpPr>
            <a:spLocks noGrp="1"/>
          </p:cNvSpPr>
          <p:nvPr/>
        </p:nvSpPr>
        <p:spPr>
          <a:xfrm>
            <a:off x="0" y="349729"/>
            <a:ext cx="12192000" cy="190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Цели дипломного проекта: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1" y="2257490"/>
            <a:ext cx="12191999" cy="4250781"/>
          </a:xfrm>
        </p:spPr>
        <p:txBody>
          <a:bodyPr>
            <a:normAutofit/>
          </a:bodyPr>
          <a:lstStyle/>
          <a:p>
            <a:pPr algn="ctr"/>
            <a:r>
              <a:rPr lang="ru-RU" altLang="en-US" sz="5000" dirty="0">
                <a:latin typeface="Calibri Light (Основной текст)"/>
              </a:rPr>
              <a:t>А</a:t>
            </a:r>
            <a:r>
              <a:rPr lang="en-US" altLang="en-US" sz="5000" dirty="0">
                <a:latin typeface="Calibri Light (Основной текст)"/>
              </a:rPr>
              <a:t>втоматизаци</a:t>
            </a:r>
            <a:r>
              <a:rPr lang="ru-RU" altLang="en-US" sz="5000" dirty="0">
                <a:latin typeface="Calibri Light (Основной текст)"/>
              </a:rPr>
              <a:t>я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процессов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хранения</a:t>
            </a:r>
            <a:r>
              <a:rPr lang="en-US" altLang="ru-RU" sz="5000" dirty="0">
                <a:latin typeface="Calibri Light (Основной текст)"/>
              </a:rPr>
              <a:t>, </a:t>
            </a:r>
            <a:r>
              <a:rPr lang="en-US" altLang="en-US" sz="5000" dirty="0">
                <a:latin typeface="Calibri Light (Основной текст)"/>
              </a:rPr>
              <a:t>распространения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и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использования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электронных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изданий</a:t>
            </a:r>
            <a:r>
              <a:rPr lang="en-US" altLang="ru-RU" sz="5000" dirty="0">
                <a:latin typeface="Calibri Light (Основной текст)"/>
              </a:rPr>
              <a:t>, </a:t>
            </a:r>
            <a:r>
              <a:rPr lang="en-US" altLang="en-US" sz="5000" dirty="0">
                <a:latin typeface="Calibri Light (Основной текст)"/>
              </a:rPr>
              <a:t>а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также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для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повышения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удобства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взаимодействия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пользователей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с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библиотечным</a:t>
            </a:r>
            <a:r>
              <a:rPr lang="en-US" altLang="ru-RU" sz="5000" dirty="0">
                <a:latin typeface="Calibri Light (Основной текст)"/>
              </a:rPr>
              <a:t> </a:t>
            </a:r>
            <a:r>
              <a:rPr lang="en-US" altLang="en-US" sz="5000" dirty="0">
                <a:latin typeface="Calibri Light (Основной текст)"/>
              </a:rPr>
              <a:t>контентом</a:t>
            </a:r>
            <a:endParaRPr lang="en-US" altLang="en-US" sz="5000" dirty="0">
              <a:latin typeface="Calibri Light (Основной текст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Заголовок 1"/>
          <p:cNvSpPr>
            <a:spLocks noGrp="1"/>
          </p:cNvSpPr>
          <p:nvPr/>
        </p:nvSpPr>
        <p:spPr>
          <a:xfrm>
            <a:off x="539114" y="351578"/>
            <a:ext cx="10772775" cy="1409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Задачи: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/>
          <p:cNvSpPr txBox="1"/>
          <p:nvPr/>
        </p:nvSpPr>
        <p:spPr>
          <a:xfrm>
            <a:off x="657225" y="1816748"/>
            <a:ext cx="107727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3200" dirty="0">
                <a:effectLst/>
                <a:latin typeface="Calibri Light (Основной текст)"/>
                <a:ea typeface="Times New Roman" panose="02020603050405020304" pitchFamily="18" charset="0"/>
              </a:rPr>
              <a:t>описать предметную область;</a:t>
            </a:r>
            <a:endParaRPr lang="ru-RU" sz="3200" dirty="0">
              <a:effectLst/>
              <a:latin typeface="Calibri Light (Основной текст)"/>
              <a:ea typeface="Times New Roman" panose="02020603050405020304" pitchFamily="18" charset="0"/>
            </a:endParaRPr>
          </a:p>
          <a:p>
            <a:pPr algn="just"/>
            <a:r>
              <a:rPr lang="ru-RU" sz="3200" dirty="0">
                <a:effectLst/>
                <a:latin typeface="Calibri Light (Основной текст)"/>
                <a:ea typeface="Times New Roman" panose="02020603050405020304" pitchFamily="18" charset="0"/>
              </a:rPr>
              <a:t>разработать модульные схемы программного продукта;</a:t>
            </a:r>
            <a:endParaRPr lang="ru-RU" sz="3200" dirty="0">
              <a:effectLst/>
              <a:latin typeface="Calibri Light (Основной текст)"/>
              <a:ea typeface="Times New Roman" panose="02020603050405020304" pitchFamily="18" charset="0"/>
            </a:endParaRPr>
          </a:p>
          <a:p>
            <a:pPr algn="just"/>
            <a:r>
              <a:rPr lang="ru-RU" sz="3200" dirty="0">
                <a:effectLst/>
                <a:latin typeface="Calibri Light (Основной текст)"/>
                <a:ea typeface="Times New Roman" panose="02020603050405020304" pitchFamily="18" charset="0"/>
              </a:rPr>
              <a:t>использовать современные инструменты средства разработки программных средств;</a:t>
            </a:r>
            <a:endParaRPr lang="ru-RU" sz="3200" dirty="0">
              <a:effectLst/>
              <a:latin typeface="Calibri Light (Основной текст)"/>
              <a:ea typeface="Times New Roman" panose="02020603050405020304" pitchFamily="18" charset="0"/>
            </a:endParaRPr>
          </a:p>
          <a:p>
            <a:pPr algn="just"/>
            <a:r>
              <a:rPr lang="ru-RU" sz="3200" dirty="0">
                <a:effectLst/>
                <a:latin typeface="Calibri Light (Основной текст)"/>
                <a:ea typeface="Times New Roman" panose="02020603050405020304" pitchFamily="18" charset="0"/>
              </a:rPr>
              <a:t>создать программный продукт;</a:t>
            </a:r>
            <a:endParaRPr lang="ru-RU" sz="3200" dirty="0">
              <a:effectLst/>
              <a:latin typeface="Calibri Light (Основной текст)"/>
              <a:ea typeface="Times New Roman" panose="02020603050405020304" pitchFamily="18" charset="0"/>
            </a:endParaRPr>
          </a:p>
          <a:p>
            <a:pPr algn="just"/>
            <a:r>
              <a:rPr lang="ru-RU" sz="3200" dirty="0">
                <a:effectLst/>
                <a:latin typeface="Calibri Light (Основной текст)"/>
                <a:ea typeface="Times New Roman" panose="02020603050405020304" pitchFamily="18" charset="0"/>
              </a:rPr>
              <a:t>провести тестирование программного продукта;</a:t>
            </a:r>
            <a:endParaRPr lang="ru-RU" sz="3200" dirty="0">
              <a:effectLst/>
              <a:latin typeface="Calibri Light (Основной текст)"/>
              <a:ea typeface="Times New Roman" panose="02020603050405020304" pitchFamily="18" charset="0"/>
            </a:endParaRPr>
          </a:p>
          <a:p>
            <a:pPr algn="just"/>
            <a:r>
              <a:rPr lang="ru-RU" sz="3200" dirty="0">
                <a:effectLst/>
                <a:latin typeface="Calibri Light (Основной текст)"/>
                <a:ea typeface="Times New Roman" panose="02020603050405020304" pitchFamily="18" charset="0"/>
              </a:rPr>
              <a:t>создать документацию на сопровождение программного продукта.</a:t>
            </a:r>
            <a:endParaRPr lang="ru-RU" sz="3200" dirty="0">
              <a:effectLst/>
              <a:latin typeface="Calibri Light (Основной текст)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24771" y="139748"/>
            <a:ext cx="10772775" cy="803938"/>
          </a:xfrm>
        </p:spPr>
        <p:txBody>
          <a:bodyPr/>
          <a:lstStyle/>
          <a:p>
            <a:pPr algn="ctr"/>
            <a:r>
              <a:rPr lang="ru-RU" b="0" dirty="0">
                <a:cs typeface="Calibri Light" panose="020F0302020204030204" pitchFamily="34" charset="0"/>
              </a:rPr>
              <a:t>Диаграмма вариантов использования</a:t>
            </a:r>
            <a:endParaRPr lang="ru-RU" b="0" dirty="0">
              <a:cs typeface="Calibri Light" panose="020F0302020204030204" pitchFamily="34" charset="0"/>
            </a:endParaRPr>
          </a:p>
        </p:txBody>
      </p:sp>
      <p:pic>
        <p:nvPicPr>
          <p:cNvPr id="10" name="Изображение 9" descr="e_library_full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405" y="943610"/>
            <a:ext cx="9919970" cy="5826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b="0" dirty="0">
                <a:sym typeface="+mn-ea"/>
              </a:rPr>
              <a:t>Входная информация</a:t>
            </a:r>
            <a:endParaRPr lang="ru-RU" altLang="en-US" b="0"/>
          </a:p>
        </p:txBody>
      </p:sp>
      <p:sp>
        <p:nvSpPr>
          <p:cNvPr id="11" name="TextBox 10"/>
          <p:cNvSpPr txBox="1"/>
          <p:nvPr/>
        </p:nvSpPr>
        <p:spPr>
          <a:xfrm>
            <a:off x="1915718" y="2214022"/>
            <a:ext cx="609460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ru-RU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прайс-лист товаров;</a:t>
            </a:r>
            <a:endParaRPr lang="ru-RU" sz="2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30597" y="329577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800"/>
              </a:spcAft>
              <a:tabLst>
                <a:tab pos="540385" algn="l"/>
                <a:tab pos="3771900" algn="l"/>
              </a:tabLst>
            </a:pPr>
            <a:r>
              <a:rPr lang="ru-RU" sz="2800" dirty="0">
                <a:solidFill>
                  <a:srgbClr val="000000"/>
                </a:solidFill>
                <a:latin typeface="Calibri Light" panose="020F0302020204030204" pitchFamily="34" charset="0"/>
                <a:ea typeface="Calibri" panose="020F0502020204030204" charset="0"/>
                <a:cs typeface="Calibri Light" panose="020F0302020204030204" pitchFamily="34" charset="0"/>
              </a:rPr>
              <a:t>заказ.</a:t>
            </a:r>
            <a:endParaRPr lang="ru-RU" sz="2800" dirty="0">
              <a:solidFill>
                <a:srgbClr val="000000"/>
              </a:solidFill>
              <a:effectLst/>
              <a:latin typeface="Calibri Light" panose="020F0302020204030204" pitchFamily="34" charset="0"/>
              <a:ea typeface="Calibri" panose="020F0502020204030204" charset="0"/>
              <a:cs typeface="Calibri Light" panose="020F03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864" y="2062855"/>
            <a:ext cx="824345" cy="824345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84" y="3082475"/>
            <a:ext cx="926236" cy="9498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1"/>
          <p:cNvSpPr>
            <a:spLocks noGrp="1"/>
          </p:cNvSpPr>
          <p:nvPr/>
        </p:nvSpPr>
        <p:spPr>
          <a:xfrm>
            <a:off x="2749975" y="328985"/>
            <a:ext cx="10772775" cy="1140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Выходная информация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76638" y="1970124"/>
            <a:ext cx="6096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800"/>
              </a:spcAft>
              <a:tabLst>
                <a:tab pos="540385" algn="l"/>
                <a:tab pos="3771900" algn="l"/>
              </a:tabLst>
            </a:pPr>
            <a:r>
              <a:rPr lang="ru-RU" sz="2800" dirty="0">
                <a:solidFill>
                  <a:srgbClr val="00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ч</a:t>
            </a:r>
            <a:r>
              <a:rPr lang="ru-RU" sz="2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ек</a:t>
            </a:r>
            <a:r>
              <a:rPr lang="ru-RU" sz="2800" dirty="0">
                <a:solidFill>
                  <a:srgbClr val="000000"/>
                </a:solidFill>
                <a:effectLst/>
                <a:latin typeface="Century Gothic (Основной текст)Roman\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800" dirty="0">
              <a:solidFill>
                <a:srgbClr val="000000"/>
              </a:solidFill>
              <a:effectLst/>
              <a:latin typeface="Century Gothic (Основной текст)Roman\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3"/>
          <p:cNvPicPr>
            <a:picLocks noChangeAspect="1"/>
          </p:cNvPicPr>
          <p:nvPr/>
        </p:nvPicPr>
        <p:blipFill rotWithShape="1">
          <a:blip r:embed="rId1"/>
          <a:srcRect l="27273" t="10749" r="27272" b="11032"/>
          <a:stretch>
            <a:fillRect/>
          </a:stretch>
        </p:blipFill>
        <p:spPr>
          <a:xfrm>
            <a:off x="1717660" y="1754680"/>
            <a:ext cx="554446" cy="9541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1"/>
          <p:cNvSpPr>
            <a:spLocks noGrp="1"/>
          </p:cNvSpPr>
          <p:nvPr/>
        </p:nvSpPr>
        <p:spPr>
          <a:xfrm>
            <a:off x="798512" y="167445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Шаблоны выходной информации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Изображение 5" descr="{D55925C4-8A94-4A8F-A907-C2D2B1CABD09}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6095" y="1573530"/>
            <a:ext cx="3568065" cy="4839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" name="Изображение 27"/>
          <p:cNvPicPr/>
          <p:nvPr/>
        </p:nvPicPr>
        <p:blipFill>
          <a:blip r:embed="rId1"/>
          <a:stretch>
            <a:fillRect/>
          </a:stretch>
        </p:blipFill>
        <p:spPr>
          <a:xfrm>
            <a:off x="1858010" y="4394200"/>
            <a:ext cx="1464945" cy="819785"/>
          </a:xfrm>
          <a:prstGeom prst="rect">
            <a:avLst/>
          </a:prstGeom>
        </p:spPr>
      </p:pic>
      <p:pic>
        <p:nvPicPr>
          <p:cNvPr id="29" name="Изображение 28"/>
          <p:cNvPicPr/>
          <p:nvPr/>
        </p:nvPicPr>
        <p:blipFill>
          <a:blip r:embed="rId2"/>
          <a:stretch>
            <a:fillRect/>
          </a:stretch>
        </p:blipFill>
        <p:spPr>
          <a:xfrm>
            <a:off x="2084705" y="1631950"/>
            <a:ext cx="3588385" cy="216979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428" y="1941987"/>
            <a:ext cx="1219200" cy="1219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0458" y="1772167"/>
            <a:ext cx="1369723" cy="134506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4" r="17708"/>
          <a:stretch>
            <a:fillRect/>
          </a:stretch>
        </p:blipFill>
        <p:spPr>
          <a:xfrm>
            <a:off x="5673194" y="3116960"/>
            <a:ext cx="1385455" cy="1340049"/>
          </a:xfrm>
          <a:prstGeom prst="rect">
            <a:avLst/>
          </a:prstGeom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00" t="12858" r="23999" b="11736"/>
          <a:stretch>
            <a:fillRect/>
          </a:stretch>
        </p:blipFill>
        <p:spPr bwMode="auto">
          <a:xfrm>
            <a:off x="5069681" y="1941528"/>
            <a:ext cx="1603332" cy="121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449" y="2692734"/>
            <a:ext cx="1345068" cy="134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8" t="11312" r="18379" b="11313"/>
          <a:stretch>
            <a:fillRect/>
          </a:stretch>
        </p:blipFill>
        <p:spPr bwMode="auto">
          <a:xfrm>
            <a:off x="8675444" y="2079883"/>
            <a:ext cx="1127853" cy="103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Заголовок 23"/>
          <p:cNvSpPr>
            <a:spLocks noGrp="1"/>
          </p:cNvSpPr>
          <p:nvPr>
            <p:ph type="title"/>
          </p:nvPr>
        </p:nvSpPr>
        <p:spPr>
          <a:xfrm>
            <a:off x="657224" y="462877"/>
            <a:ext cx="10772775" cy="828412"/>
          </a:xfrm>
        </p:spPr>
        <p:txBody>
          <a:bodyPr/>
          <a:lstStyle/>
          <a:p>
            <a:pPr algn="ctr"/>
            <a:r>
              <a:rPr lang="ru-RU" b="0" dirty="0"/>
              <a:t>Средства </a:t>
            </a:r>
            <a:r>
              <a:rPr lang="ru-RU" b="0" dirty="0"/>
              <a:t>разработки</a:t>
            </a:r>
            <a:endParaRPr lang="ru-RU" b="0" dirty="0"/>
          </a:p>
        </p:txBody>
      </p:sp>
      <p:pic>
        <p:nvPicPr>
          <p:cNvPr id="27" name="Изображение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6295" y="3517900"/>
            <a:ext cx="1033145" cy="1022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1"/>
          <p:cNvSpPr>
            <a:spLocks noGrp="1"/>
          </p:cNvSpPr>
          <p:nvPr/>
        </p:nvSpPr>
        <p:spPr>
          <a:xfrm>
            <a:off x="709612" y="128905"/>
            <a:ext cx="10772775" cy="724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Схема отношений базы данных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Изображение 1" descr="books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930" y="854075"/>
            <a:ext cx="10215880" cy="575373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05815" y="357505"/>
            <a:ext cx="10676255" cy="59626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0" dirty="0">
                <a:ea typeface="Zilla Slab"/>
                <a:cs typeface="Calibri Light" panose="020F0302020204030204" pitchFamily="34" charset="0"/>
                <a:sym typeface="Zilla Slab"/>
              </a:rPr>
              <a:t>Модульная схема мобильного приложения</a:t>
            </a:r>
            <a:endParaRPr lang="ru-RU" b="0" dirty="0">
              <a:cs typeface="Calibri Light" panose="020F0302020204030204" pitchFamily="34" charset="0"/>
            </a:endParaRPr>
          </a:p>
        </p:txBody>
      </p:sp>
      <p:pic>
        <p:nvPicPr>
          <p:cNvPr id="6" name="Изображение 5" descr="Модальное окн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1271905"/>
            <a:ext cx="11496040" cy="4877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Заголовок 1"/>
          <p:cNvSpPr txBox="1"/>
          <p:nvPr/>
        </p:nvSpPr>
        <p:spPr>
          <a:xfrm>
            <a:off x="297180" y="307340"/>
            <a:ext cx="11667490" cy="666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>
                <a:solidFill>
                  <a:schemeClr val="tx1"/>
                </a:solidFill>
              </a:rPr>
              <a:t>Протокол тестирования программного продукта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6721" y="973765"/>
            <a:ext cx="1113707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Calibri (Основной текст)"/>
              </a:rPr>
              <a:t>Тестирование «Т</a:t>
            </a:r>
            <a:r>
              <a:rPr lang="en-US" altLang="en-US" sz="1800" dirty="0">
                <a:latin typeface="Calibri (Основной текст)"/>
              </a:rPr>
              <a:t>естирования</a:t>
            </a:r>
            <a:r>
              <a:rPr lang="en-US" altLang="ru-RU" sz="1800" dirty="0">
                <a:latin typeface="Calibri (Основной текст)"/>
              </a:rPr>
              <a:t> </a:t>
            </a:r>
            <a:r>
              <a:rPr lang="en-US" altLang="en-US" sz="1800" dirty="0">
                <a:latin typeface="Calibri (Основной текст)"/>
              </a:rPr>
              <a:t>на</a:t>
            </a:r>
            <a:r>
              <a:rPr lang="en-US" altLang="ru-RU" sz="1800" dirty="0">
                <a:latin typeface="Calibri (Основной текст)"/>
              </a:rPr>
              <a:t> </a:t>
            </a:r>
            <a:r>
              <a:rPr lang="en-US" altLang="en-US" sz="1800" dirty="0">
                <a:latin typeface="Calibri (Основной текст)"/>
              </a:rPr>
              <a:t>проверку</a:t>
            </a:r>
            <a:r>
              <a:rPr lang="en-US" altLang="ru-RU" sz="1800" dirty="0">
                <a:latin typeface="Calibri (Основной текст)"/>
              </a:rPr>
              <a:t> </a:t>
            </a:r>
            <a:r>
              <a:rPr lang="en-US" altLang="en-US" sz="1800" dirty="0">
                <a:latin typeface="Calibri (Основной текст)"/>
              </a:rPr>
              <a:t>регистрации</a:t>
            </a:r>
            <a:r>
              <a:rPr lang="en-US" altLang="ru-RU" sz="1800" dirty="0">
                <a:latin typeface="Calibri (Основной текст)"/>
              </a:rPr>
              <a:t> </a:t>
            </a:r>
            <a:r>
              <a:rPr lang="en-US" altLang="en-US" sz="1800" dirty="0">
                <a:latin typeface="Calibri (Основной текст)"/>
              </a:rPr>
              <a:t>при</a:t>
            </a:r>
            <a:r>
              <a:rPr lang="en-US" altLang="ru-RU" sz="1800" dirty="0">
                <a:latin typeface="Calibri (Основной текст)"/>
              </a:rPr>
              <a:t> </a:t>
            </a:r>
            <a:r>
              <a:rPr lang="en-US" altLang="en-US" sz="1800" dirty="0">
                <a:latin typeface="Calibri (Основной текст)"/>
              </a:rPr>
              <a:t>вводе</a:t>
            </a:r>
            <a:r>
              <a:rPr lang="en-US" altLang="ru-RU" sz="1800" dirty="0">
                <a:latin typeface="Calibri (Основной текст)"/>
              </a:rPr>
              <a:t> </a:t>
            </a:r>
            <a:r>
              <a:rPr lang="en-US" altLang="en-US" sz="1800" dirty="0">
                <a:latin typeface="Calibri (Основной текст)"/>
              </a:rPr>
              <a:t>корректных</a:t>
            </a:r>
            <a:r>
              <a:rPr lang="en-US" altLang="ru-RU" sz="1800" dirty="0">
                <a:latin typeface="Calibri (Основной текст)"/>
              </a:rPr>
              <a:t> </a:t>
            </a:r>
            <a:r>
              <a:rPr lang="en-US" altLang="en-US" sz="1800" dirty="0">
                <a:latin typeface="Calibri (Основной текст)"/>
              </a:rPr>
              <a:t>данных</a:t>
            </a:r>
            <a:r>
              <a:rPr lang="ru-RU" sz="1800" dirty="0">
                <a:latin typeface="Calibri (Основной текст)"/>
              </a:rPr>
              <a:t>»</a:t>
            </a:r>
            <a:endParaRPr lang="ru-RU" sz="1800" dirty="0">
              <a:latin typeface="Calibri (Основной текст)"/>
            </a:endParaRPr>
          </a:p>
        </p:txBody>
      </p:sp>
      <p:pic>
        <p:nvPicPr>
          <p:cNvPr id="27" name="Изображение 2"/>
          <p:cNvPicPr>
            <a:picLocks noChangeAspect="1"/>
          </p:cNvPicPr>
          <p:nvPr/>
        </p:nvPicPr>
        <p:blipFill>
          <a:blip r:embed="rId1"/>
          <a:srcRect l="2235" t="2451" r="3010"/>
          <a:stretch>
            <a:fillRect/>
          </a:stretch>
        </p:blipFill>
        <p:spPr>
          <a:xfrm>
            <a:off x="3967480" y="1423670"/>
            <a:ext cx="4633595" cy="521970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1"/>
          <p:cNvSpPr>
            <a:spLocks noGrp="1"/>
          </p:cNvSpPr>
          <p:nvPr/>
        </p:nvSpPr>
        <p:spPr>
          <a:xfrm>
            <a:off x="774700" y="1984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ru-RU" sz="5000" b="0" dirty="0">
                <a:solidFill>
                  <a:schemeClr val="tx1"/>
                </a:solidFill>
                <a:sym typeface="+mn-ea"/>
              </a:rPr>
              <a:t>Руководство пользователя </a:t>
            </a:r>
            <a:endParaRPr lang="ru-RU" sz="5000" b="0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ru-RU" altLang="en-US" sz="5000" b="0" dirty="0">
                <a:solidFill>
                  <a:schemeClr val="tx1"/>
                </a:solidFill>
                <a:sym typeface="+mn-ea"/>
              </a:rPr>
              <a:t>(Клиент)</a:t>
            </a:r>
            <a:endParaRPr lang="ru-RU" altLang="en-US" sz="5000" b="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b="0" dirty="0">
                <a:sym typeface="+mn-ea"/>
              </a:rPr>
              <a:t>Основное окно</a:t>
            </a:r>
            <a:endParaRPr lang="ru-RU" altLang="en-US" b="0"/>
          </a:p>
        </p:txBody>
      </p:sp>
      <p:pic>
        <p:nvPicPr>
          <p:cNvPr id="78" name="Изображение 23"/>
          <p:cNvPicPr>
            <a:picLocks noChangeAspect="1"/>
          </p:cNvPicPr>
          <p:nvPr/>
        </p:nvPicPr>
        <p:blipFill>
          <a:blip r:embed="rId1"/>
          <a:srcRect l="10367" t="18837" r="15075" b="13595"/>
          <a:stretch>
            <a:fillRect/>
          </a:stretch>
        </p:blipFill>
        <p:spPr>
          <a:xfrm>
            <a:off x="2181225" y="1348740"/>
            <a:ext cx="7448550" cy="241427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79" name="Изображение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020" y="3763010"/>
            <a:ext cx="7447915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2183130" y="1333500"/>
            <a:ext cx="7456805" cy="544131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2173605" y="1313815"/>
            <a:ext cx="7456170" cy="549021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b="0" dirty="0">
                <a:sym typeface="+mn-ea"/>
              </a:rPr>
              <a:t>Окна «Авторизация», «Регистрация»</a:t>
            </a:r>
            <a:endParaRPr lang="ru-RU" altLang="en-US" b="0"/>
          </a:p>
        </p:txBody>
      </p:sp>
      <p:pic>
        <p:nvPicPr>
          <p:cNvPr id="80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rcRect r="1054"/>
          <a:stretch>
            <a:fillRect/>
          </a:stretch>
        </p:blipFill>
        <p:spPr>
          <a:xfrm>
            <a:off x="1067435" y="1832610"/>
            <a:ext cx="3935730" cy="4351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1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180" y="2247583"/>
            <a:ext cx="3600450" cy="2480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 b="0"/>
              <a:t>Окна покупки «Подписки»</a:t>
            </a:r>
            <a:r>
              <a:rPr lang="en-US" altLang="en-US" b="0"/>
              <a:t>,</a:t>
            </a:r>
            <a:r>
              <a:rPr lang="ru-RU" altLang="en-US" b="0"/>
              <a:t> «Физической книги»</a:t>
            </a:r>
            <a:endParaRPr lang="ru-RU" altLang="en-US" b="0"/>
          </a:p>
        </p:txBody>
      </p:sp>
      <p:pic>
        <p:nvPicPr>
          <p:cNvPr id="87" name="Изображение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584325"/>
            <a:ext cx="4876165" cy="4351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5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45" y="1584325"/>
            <a:ext cx="4398010" cy="4859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b="0"/>
              <a:t>Окно с книгой с подпиской и без</a:t>
            </a:r>
            <a:endParaRPr lang="ru-RU" altLang="en-US" b="0"/>
          </a:p>
        </p:txBody>
      </p:sp>
      <p:pic>
        <p:nvPicPr>
          <p:cNvPr id="86" name="Изображение 2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138045"/>
            <a:ext cx="5029200" cy="3553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8" name="Изображение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35" y="2138045"/>
            <a:ext cx="5512435" cy="3553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 b="0"/>
              <a:t>Страница для чтения книги и плеер для аудиоверсии</a:t>
            </a:r>
            <a:endParaRPr lang="ru-RU" altLang="en-US" b="0"/>
          </a:p>
        </p:txBody>
      </p:sp>
      <p:pic>
        <p:nvPicPr>
          <p:cNvPr id="90" name="Изображение 3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5546725"/>
            <a:ext cx="10515600" cy="8997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9" name="Изображение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835" y="1584325"/>
            <a:ext cx="7339330" cy="3642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 sz="5400" b="0"/>
              <a:t>Заключение </a:t>
            </a:r>
            <a:endParaRPr lang="ru-RU" altLang="en-US" sz="5400" b="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indent="457200"/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ходе</a:t>
            </a:r>
            <a:r>
              <a:rPr lang="en-US" altLang="ru-RU"/>
              <a:t> </a:t>
            </a:r>
            <a:r>
              <a:rPr lang="en-US" altLang="en-US"/>
              <a:t>выполнения</a:t>
            </a:r>
            <a:r>
              <a:rPr lang="en-US" altLang="ru-RU"/>
              <a:t> </a:t>
            </a:r>
            <a:r>
              <a:rPr lang="en-US" altLang="en-US"/>
              <a:t>дипломного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r>
              <a:rPr lang="en-US" altLang="ru-RU"/>
              <a:t> </a:t>
            </a:r>
            <a:r>
              <a:rPr lang="en-US" altLang="en-US"/>
              <a:t>разработана</a:t>
            </a:r>
            <a:r>
              <a:rPr lang="en-US" altLang="ru-RU"/>
              <a:t> </a:t>
            </a:r>
            <a:r>
              <a:rPr lang="en-US" altLang="en-US"/>
              <a:t>информационная</a:t>
            </a:r>
            <a:r>
              <a:rPr lang="en-US" altLang="ru-RU"/>
              <a:t>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цифровым</a:t>
            </a:r>
            <a:r>
              <a:rPr lang="en-US" altLang="ru-RU"/>
              <a:t> </a:t>
            </a:r>
            <a:r>
              <a:rPr lang="en-US" altLang="en-US"/>
              <a:t>контентом</a:t>
            </a:r>
            <a:r>
              <a:rPr lang="en-US" altLang="ru-RU"/>
              <a:t> </a:t>
            </a:r>
            <a:r>
              <a:rPr lang="en-US" altLang="en-US"/>
              <a:t>книг</a:t>
            </a:r>
            <a:r>
              <a:rPr lang="en-US" altLang="ru-RU"/>
              <a:t> </a:t>
            </a:r>
            <a:r>
              <a:rPr lang="en-US" altLang="en-US"/>
              <a:t>«</a:t>
            </a:r>
            <a:r>
              <a:rPr lang="en-US" altLang="en-US"/>
              <a:t>Буксбери</a:t>
            </a:r>
            <a:r>
              <a:rPr lang="en-US" altLang="en-US"/>
              <a:t>»</a:t>
            </a:r>
            <a:r>
              <a:rPr lang="en-US" altLang="ru-RU"/>
              <a:t>. </a:t>
            </a:r>
            <a:r>
              <a:rPr lang="en-US" altLang="en-US"/>
              <a:t>Все</a:t>
            </a:r>
            <a:r>
              <a:rPr lang="en-US" altLang="ru-RU"/>
              <a:t> </a:t>
            </a:r>
            <a:r>
              <a:rPr lang="en-US" altLang="en-US"/>
              <a:t>поставленные</a:t>
            </a:r>
            <a:r>
              <a:rPr lang="en-US" altLang="ru-RU"/>
              <a:t> </a:t>
            </a:r>
            <a:r>
              <a:rPr lang="en-US" altLang="en-US"/>
              <a:t>цели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задачи</a:t>
            </a:r>
            <a:r>
              <a:rPr lang="en-US" altLang="ru-RU"/>
              <a:t> </a:t>
            </a:r>
            <a:r>
              <a:rPr lang="en-US" altLang="en-US"/>
              <a:t>выполнены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полном</a:t>
            </a:r>
            <a:r>
              <a:rPr lang="en-US" altLang="ru-RU"/>
              <a:t> </a:t>
            </a:r>
            <a:r>
              <a:rPr lang="en-US" altLang="en-US"/>
              <a:t>объёме</a:t>
            </a:r>
            <a:r>
              <a:rPr lang="en-US" altLang="ru-RU"/>
              <a:t>.</a:t>
            </a:r>
            <a:endParaRPr lang="en-US" altLang="ru-RU"/>
          </a:p>
          <a:p>
            <a:pPr marL="0" indent="358775">
              <a:buNone/>
            </a:pPr>
            <a:r>
              <a:rPr lang="ru-RU" dirty="0">
                <a:solidFill>
                  <a:schemeClr val="tx1"/>
                </a:solidFill>
                <a:sym typeface="+mn-ea"/>
              </a:rPr>
              <a:t>Также был приобретен практический опыт в профессиональной сфере, получены навыки практической разработки программного продукта, а также разработка технической документации для него.</a:t>
            </a:r>
            <a:endParaRPr lang="ru-RU" dirty="0">
              <a:solidFill>
                <a:schemeClr val="tx1"/>
              </a:solidFill>
            </a:endParaRPr>
          </a:p>
          <a:p>
            <a:pPr marL="0" indent="358775">
              <a:buNone/>
            </a:pPr>
            <a:r>
              <a:rPr lang="ru-RU" dirty="0">
                <a:solidFill>
                  <a:schemeClr val="tx1"/>
                </a:solidFill>
                <a:sym typeface="+mn-ea"/>
              </a:rPr>
              <a:t>Система «</a:t>
            </a:r>
            <a:r>
              <a:rPr lang="en-US" altLang="en-US">
                <a:sym typeface="+mn-ea"/>
              </a:rPr>
              <a:t>Буксбери</a:t>
            </a:r>
            <a:r>
              <a:rPr lang="ru-RU" dirty="0">
                <a:solidFill>
                  <a:schemeClr val="tx1"/>
                </a:solidFill>
                <a:sym typeface="+mn-ea"/>
              </a:rPr>
              <a:t>» прошла тестирование на данных контрольного примера и готова к внедрению подтвердив свою работоспособность.</a:t>
            </a:r>
            <a:endParaRPr lang="ru-RU" dirty="0">
              <a:solidFill>
                <a:schemeClr val="tx1"/>
              </a:solidFill>
            </a:endParaRPr>
          </a:p>
          <a:p>
            <a:endParaRPr lang="en-US" alt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766060"/>
            <a:ext cx="10515600" cy="1325563"/>
          </a:xfrm>
        </p:spPr>
        <p:txBody>
          <a:bodyPr/>
          <a:p>
            <a:pPr algn="ctr"/>
            <a:r>
              <a:rPr lang="ru-RU" altLang="en-US"/>
              <a:t>Спасибо за внимание!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1865</Words>
  <Application>WPS Presentation</Application>
  <PresentationFormat>宽屏</PresentationFormat>
  <Paragraphs>71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SimSun</vt:lpstr>
      <vt:lpstr>Wingdings</vt:lpstr>
      <vt:lpstr>Calibri Light</vt:lpstr>
      <vt:lpstr>Times New Roman</vt:lpstr>
      <vt:lpstr>Calibri</vt:lpstr>
      <vt:lpstr>Wingdings 2</vt:lpstr>
      <vt:lpstr>Wingdings</vt:lpstr>
      <vt:lpstr>Calibri Light (Основной текст)</vt:lpstr>
      <vt:lpstr>Century Gothic (Основной текст)Roman\</vt:lpstr>
      <vt:lpstr>Segoe Print</vt:lpstr>
      <vt:lpstr>Zilla Slab</vt:lpstr>
      <vt:lpstr>Calibri (Основной текст)</vt:lpstr>
      <vt:lpstr>Microsoft YaHei</vt:lpstr>
      <vt:lpstr>Arial Unicode MS</vt:lpstr>
      <vt:lpstr>Default Design</vt:lpstr>
      <vt:lpstr>PowerPoint 演示文稿</vt:lpstr>
      <vt:lpstr>PowerPoint 演示文稿</vt:lpstr>
      <vt:lpstr>PowerPoint 演示文稿</vt:lpstr>
      <vt:lpstr>Диаграмма вариантов использования</vt:lpstr>
      <vt:lpstr>Входная информация</vt:lpstr>
      <vt:lpstr>PowerPoint 演示文稿</vt:lpstr>
      <vt:lpstr>PowerPoint 演示文稿</vt:lpstr>
      <vt:lpstr>Средства разработки</vt:lpstr>
      <vt:lpstr>PowerPoint 演示文稿</vt:lpstr>
      <vt:lpstr>Модульная схема мобильного приложения</vt:lpstr>
      <vt:lpstr>PowerPoint 演示文稿</vt:lpstr>
      <vt:lpstr>PowerPoint 演示文稿</vt:lpstr>
      <vt:lpstr>Основное окно</vt:lpstr>
      <vt:lpstr>Окна «Авторизация», «Регистрация»</vt:lpstr>
      <vt:lpstr>Окна покупки «Подписки», «Физической книги»</vt:lpstr>
      <vt:lpstr>Окно с книгой с подпиской и без</vt:lpstr>
      <vt:lpstr>Страница для чтения книги и плеер для аудиоверсии</vt:lpstr>
      <vt:lpstr>Заключение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Kamil</cp:lastModifiedBy>
  <cp:revision>24</cp:revision>
  <dcterms:created xsi:type="dcterms:W3CDTF">2025-07-23T00:59:00Z</dcterms:created>
  <dcterms:modified xsi:type="dcterms:W3CDTF">2026-06-17T18:45:38Z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1049-12.2.0.23203</vt:lpwstr>
  </property>
  <property fmtid="{D5CDD505-2E9C-101B-9397-08002B2CF9AE}" pid="3" name="ICV">
    <vt:lpwstr>9A9CC273E43640DCA0A3A1E3FB82CA11_11</vt:lpwstr>
  </property>
</Properties>
</file>